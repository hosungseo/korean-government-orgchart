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5582c03b114c83" /><Relationship Type="http://schemas.openxmlformats.org/officeDocument/2006/relationships/extended-properties" Target="/docProps/app.xml" Id="Rfd6307042f3a4015" /><Relationship Type="http://schemas.openxmlformats.org/officeDocument/2006/relationships/officeDocument" Target="/ppt/presentation.xml" Id="Rbfe27fcc6c1842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66347fbf634bc3"/>
  </p:sldMasterIdLst>
  <p:notesMasterIdLst>
    <p:notesMasterId xmlns:r="http://schemas.openxmlformats.org/officeDocument/2006/relationships" r:id="Rf4a24b51345b4fe0"/>
  </p:notesMasterIdLst>
  <p:sldIdLst>
    <p:sldId xmlns:r="http://schemas.openxmlformats.org/officeDocument/2006/relationships" id="256" r:id="Ra1059110daf341f3"/>
  </p:sldIdLst>
  <p:sldSz cx="3781425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1274902b54250" /><Relationship Type="http://schemas.openxmlformats.org/officeDocument/2006/relationships/slideMaster" Target="/ppt/slideMasters/slideMaster1.xml" Id="R9466347fbf634bc3" /><Relationship Type="http://schemas.openxmlformats.org/officeDocument/2006/relationships/notesMaster" Target="/ppt/notesMasters/notesMaster1.xml" Id="Rf4a24b51345b4fe0" /><Relationship Type="http://schemas.openxmlformats.org/officeDocument/2006/relationships/presProps" Target="/ppt/presProps.xml" Id="R44d27f5926134a35" /><Relationship Type="http://schemas.openxmlformats.org/officeDocument/2006/relationships/tableStyles" Target="/ppt/tableStyles.xml" Id="Rb756922630b849ee" /><Relationship Type="http://schemas.openxmlformats.org/officeDocument/2006/relationships/slide" Target="/ppt/slides/slide1.xml" Id="Ra1059110daf341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a27864656a43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0146f89ce945c4" /><Relationship Type="http://schemas.openxmlformats.org/officeDocument/2006/relationships/notesMaster" Target="/ppt/notesMasters/notesMaster1.xml" Id="Rda83e991079c49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4e79a943f41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00cefaa75f4e24" /><Relationship Type="http://schemas.openxmlformats.org/officeDocument/2006/relationships/slideLayout" Target="/ppt/slideLayouts/slideLayout1.xml" Id="R684c4e135e1342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4c4e135e1342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742e7c83747a9" /><Relationship Type="http://schemas.openxmlformats.org/officeDocument/2006/relationships/notesSlide" Target="/ppt/notesSlides/notesSlide1.xml" Id="R669ab0324a9f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기관명">
            <a:extLst xmlns:a="http://schemas.openxmlformats.org/drawingml/2006/main">
              <a:ext uri="{FF2B5EF4-FFF2-40B4-BE49-F238E27FC236}">
                <a16:creationId xmlns:a16="http://schemas.microsoft.com/office/drawing/2014/main" id="{B7BC8C2F-0477-4E84-8FC6-5BB6FDFE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286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산업통상부</a:t>
            </a:r>
          </a:p>
        </p:txBody>
      </p:sp>
      <p:sp>
        <p:nvSpPr>
          <p:cNvPr id="2" name="부제">
            <a:extLst xmlns:a="http://schemas.openxmlformats.org/drawingml/2006/main">
              <a:ext uri="{FF2B5EF4-FFF2-40B4-BE49-F238E27FC236}">
                <a16:creationId xmlns:a16="http://schemas.microsoft.com/office/drawing/2014/main" id="{A973EDF2-B783-4E7C-85F4-E9A9B51D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04825"/>
            <a:ext cx="2286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788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산업정책실 — 세로 기구도</a:t>
            </a:r>
          </a:p>
        </p:txBody>
      </p:sp>
      <p:sp>
        <p:nvSpPr>
          <p:cNvPr id="3" name="기준일">
            <a:extLst xmlns:a="http://schemas.openxmlformats.org/drawingml/2006/main">
              <a:ext uri="{FF2B5EF4-FFF2-40B4-BE49-F238E27FC236}">
                <a16:creationId xmlns:a16="http://schemas.microsoft.com/office/drawing/2014/main" id="{FBBBF905-BB2D-4BC1-AC0B-76129C5E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6225"/>
            <a:ext cx="1333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38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638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&lt; 2026. 7. 24. 기준 &gt;</a:t>
            </a:r>
          </a:p>
        </p:txBody>
      </p:sp>
      <p:sp>
        <p:nvSpPr>
          <p:cNvPr id="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F0FB94B-C616-4E1E-8BAB-DB888734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52475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9CA3AF"/>
            </a:solidFill>
            <a:prstDash val="solid"/>
          </a:ln>
        </p:spPr>
      </p:sp>
      <p:sp>
        <p:nvSpPr>
          <p:cNvPr id="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1BE580E-0B70-47B8-8A88-AAA1113E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13239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solid"/>
          </a:ln>
        </p:spPr>
      </p:sp>
      <p:sp>
        <p:nvSpPr>
          <p:cNvPr id="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5903714F-025A-46E9-90AA-366E5AE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141446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solid"/>
          </a:ln>
        </p:spPr>
      </p:sp>
      <p:sp>
        <p:nvSpPr>
          <p:cNvPr id="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5381F98-74A3-470A-B351-737BA4D5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38275"/>
            <a:ext cx="0" cy="63007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555555"/>
            </a:solidFill>
            <a:prstDash val="solid"/>
          </a:ln>
        </p:spPr>
      </p:sp>
      <p:sp>
        <p:nvSpPr>
          <p:cNvPr id="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9DE9771-C9E5-435C-B9E9-C705FDA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4783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F98"/>
            </a:solidFill>
            <a:prstDash val="dash"/>
          </a:ln>
        </p:spPr>
      </p:sp>
      <p:sp>
        <p:nvSpPr>
          <p:cNvPr id="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C21EBEC-D86D-473C-8528-FA9B3D48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0026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F98"/>
            </a:solidFill>
            <a:prstDash val="dash"/>
          </a:ln>
        </p:spPr>
      </p:sp>
      <p:sp>
        <p:nvSpPr>
          <p:cNvPr id="1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AD1998D-FBD8-4CE9-8001-6CF08D7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5268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F98"/>
            </a:solidFill>
            <a:prstDash val="dash"/>
          </a:ln>
        </p:spPr>
      </p:sp>
      <p:sp>
        <p:nvSpPr>
          <p:cNvPr id="1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BC9736E0-E134-4BF4-99DA-22DE5335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511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F98"/>
            </a:solidFill>
            <a:prstDash val="dash"/>
          </a:ln>
        </p:spPr>
      </p:sp>
      <p:sp>
        <p:nvSpPr>
          <p:cNvPr id="1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A268F8B-C65C-4EBA-925B-5F40219B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5753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6DE90688-381D-4C06-BAFC-F053D69D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996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276A064D-B849-4A10-B14C-5F50276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6238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FD7C211-2F84-41EF-8C30-AC449313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481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83F48575-E201-4329-B295-A0CEEB5B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6723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7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F20C98-DD7D-4FBB-B181-B8A8CC4F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1966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32907117-5396-473A-BCEB-14960D5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208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19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0677A631-3278-4FAD-9D5B-161781C8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2451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0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8943EAC-4A8F-424B-A557-6EF33649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7693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1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9B7CBD2-5F4E-42EE-9451-BEF9BAA9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2936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2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E5A2B5C4-5B8F-4A76-86EA-9BFF8E50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68178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3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416DCDA-8100-4B6C-B02E-80ECC949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03421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4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CB1A5A30-1039-4F8F-A93C-640D759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386638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74C96DEF-F833-4AFC-A097-D472CF1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39063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6" name="조직-(고공 가) 산업정책실">
            <a:extLst xmlns:a="http://schemas.openxmlformats.org/drawingml/2006/main">
              <a:ext uri="{FF2B5EF4-FFF2-40B4-BE49-F238E27FC236}">
                <a16:creationId xmlns:a16="http://schemas.microsoft.com/office/drawing/2014/main" id="{F0CF3FEC-F533-4419-AE12-07B3F77D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24098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10478">
            <a:solidFill>
              <a:srgbClr val="7A6A00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(고공 가) 산업정책실</a:t>
            </a:r>
          </a:p>
        </p:txBody>
      </p:sp>
      <p:sp>
        <p:nvSpPr>
          <p:cNvPr id="27" name="조직-산업정책관">
            <a:extLst xmlns:a="http://schemas.openxmlformats.org/drawingml/2006/main">
              <a:ext uri="{FF2B5EF4-FFF2-40B4-BE49-F238E27FC236}">
                <a16:creationId xmlns:a16="http://schemas.microsoft.com/office/drawing/2014/main" id="{BBBA2D6D-27B1-4453-B1A9-3808206A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4"/>
          </a:solidFill>
          <a:ln xmlns:a="http://schemas.openxmlformats.org/drawingml/2006/main" w="9525">
            <a:solidFill>
              <a:srgbClr val="3D8B61"/>
            </a:solidFill>
            <a:prstDash val="dash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산업정책관</a:t>
            </a:r>
          </a:p>
        </p:txBody>
      </p:sp>
      <p:sp>
        <p:nvSpPr>
          <p:cNvPr id="28" name="조직-제조산업정책관">
            <a:extLst xmlns:a="http://schemas.openxmlformats.org/drawingml/2006/main">
              <a:ext uri="{FF2B5EF4-FFF2-40B4-BE49-F238E27FC236}">
                <a16:creationId xmlns:a16="http://schemas.microsoft.com/office/drawing/2014/main" id="{9542386C-4579-4018-937B-66EDC430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4"/>
          </a:solidFill>
          <a:ln xmlns:a="http://schemas.openxmlformats.org/drawingml/2006/main" w="9525">
            <a:solidFill>
              <a:srgbClr val="3D8B61"/>
            </a:solidFill>
            <a:prstDash val="dash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제조산업정책관</a:t>
            </a:r>
          </a:p>
        </p:txBody>
      </p:sp>
      <p:sp>
        <p:nvSpPr>
          <p:cNvPr id="29" name="조직-중견기업정책관">
            <a:extLst xmlns:a="http://schemas.openxmlformats.org/drawingml/2006/main">
              <a:ext uri="{FF2B5EF4-FFF2-40B4-BE49-F238E27FC236}">
                <a16:creationId xmlns:a16="http://schemas.microsoft.com/office/drawing/2014/main" id="{6C0F88B1-E4D7-4796-8D17-51696618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4"/>
          </a:solidFill>
          <a:ln xmlns:a="http://schemas.openxmlformats.org/drawingml/2006/main" w="9525">
            <a:solidFill>
              <a:srgbClr val="3D8B61"/>
            </a:solidFill>
            <a:prstDash val="dash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중견기업정책관</a:t>
            </a:r>
          </a:p>
        </p:txBody>
      </p:sp>
      <p:sp>
        <p:nvSpPr>
          <p:cNvPr id="30" name="조직-지역경제정책관">
            <a:extLst xmlns:a="http://schemas.openxmlformats.org/drawingml/2006/main">
              <a:ext uri="{FF2B5EF4-FFF2-40B4-BE49-F238E27FC236}">
                <a16:creationId xmlns:a16="http://schemas.microsoft.com/office/drawing/2014/main" id="{F230E4D9-9DDD-46D5-87A9-36FE21D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4"/>
          </a:solidFill>
          <a:ln xmlns:a="http://schemas.openxmlformats.org/drawingml/2006/main" w="9525">
            <a:solidFill>
              <a:srgbClr val="3D8B61"/>
            </a:solidFill>
            <a:prstDash val="dash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1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지역경제정책관</a:t>
            </a:r>
          </a:p>
        </p:txBody>
      </p:sp>
      <p:sp>
        <p:nvSpPr>
          <p:cNvPr id="31" name="조직-기업정책팀">
            <a:extLst xmlns:a="http://schemas.openxmlformats.org/drawingml/2006/main">
              <a:ext uri="{FF2B5EF4-FFF2-40B4-BE49-F238E27FC236}">
                <a16:creationId xmlns:a16="http://schemas.microsoft.com/office/drawing/2014/main" id="{BCBD60C0-FB27-44B9-9A9D-71C4F732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기업정책팀</a:t>
            </a:r>
          </a:p>
        </p:txBody>
      </p:sp>
      <p:sp>
        <p:nvSpPr>
          <p:cNvPr id="32" name="조직-산업일자리혁신과">
            <a:extLst xmlns:a="http://schemas.openxmlformats.org/drawingml/2006/main">
              <a:ext uri="{FF2B5EF4-FFF2-40B4-BE49-F238E27FC236}">
                <a16:creationId xmlns:a16="http://schemas.microsoft.com/office/drawing/2014/main" id="{E8A4E27D-91A8-4C08-919E-38107B38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산업일자리혁신과</a:t>
            </a:r>
          </a:p>
        </p:txBody>
      </p:sp>
      <p:sp>
        <p:nvSpPr>
          <p:cNvPr id="33" name="조직-산업정책과">
            <a:extLst xmlns:a="http://schemas.openxmlformats.org/drawingml/2006/main">
              <a:ext uri="{FF2B5EF4-FFF2-40B4-BE49-F238E27FC236}">
                <a16:creationId xmlns:a16="http://schemas.microsoft.com/office/drawing/2014/main" id="{091CA7B2-95ED-4F50-A048-3719A2F5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산업정책과</a:t>
            </a:r>
          </a:p>
        </p:txBody>
      </p:sp>
      <p:sp>
        <p:nvSpPr>
          <p:cNvPr id="34" name="조직-산업환경과">
            <a:extLst xmlns:a="http://schemas.openxmlformats.org/drawingml/2006/main">
              <a:ext uri="{FF2B5EF4-FFF2-40B4-BE49-F238E27FC236}">
                <a16:creationId xmlns:a16="http://schemas.microsoft.com/office/drawing/2014/main" id="{39A12384-9E90-44F3-9387-8F774E36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산업환경과</a:t>
            </a:r>
          </a:p>
        </p:txBody>
      </p:sp>
      <p:sp>
        <p:nvSpPr>
          <p:cNvPr id="35" name="조직-엔지니어링디자인과">
            <a:extLst xmlns:a="http://schemas.openxmlformats.org/drawingml/2006/main">
              <a:ext uri="{FF2B5EF4-FFF2-40B4-BE49-F238E27FC236}">
                <a16:creationId xmlns:a16="http://schemas.microsoft.com/office/drawing/2014/main" id="{3C9D7841-F14C-48E1-9EE3-6AB75D54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엔지니어링디자인과</a:t>
            </a:r>
          </a:p>
        </p:txBody>
      </p:sp>
      <p:sp>
        <p:nvSpPr>
          <p:cNvPr id="36" name="조직-유통물류과">
            <a:extLst xmlns:a="http://schemas.openxmlformats.org/drawingml/2006/main">
              <a:ext uri="{FF2B5EF4-FFF2-40B4-BE49-F238E27FC236}">
                <a16:creationId xmlns:a16="http://schemas.microsoft.com/office/drawing/2014/main" id="{B2DF75F1-40C6-48B2-AFB3-966C15C3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유통물류과</a:t>
            </a:r>
          </a:p>
        </p:txBody>
      </p:sp>
      <p:sp>
        <p:nvSpPr>
          <p:cNvPr id="37" name="조직-입지총괄과">
            <a:extLst xmlns:a="http://schemas.openxmlformats.org/drawingml/2006/main">
              <a:ext uri="{FF2B5EF4-FFF2-40B4-BE49-F238E27FC236}">
                <a16:creationId xmlns:a16="http://schemas.microsoft.com/office/drawing/2014/main" id="{694EBFA9-CF64-4B68-A914-084AC114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입지총괄과</a:t>
            </a:r>
          </a:p>
        </p:txBody>
      </p:sp>
      <p:sp>
        <p:nvSpPr>
          <p:cNvPr id="38" name="조직-자동차과">
            <a:extLst xmlns:a="http://schemas.openxmlformats.org/drawingml/2006/main">
              <a:ext uri="{FF2B5EF4-FFF2-40B4-BE49-F238E27FC236}">
                <a16:creationId xmlns:a16="http://schemas.microsoft.com/office/drawing/2014/main" id="{7B452AD3-1144-4F4A-9FB9-956E3356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9592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자동차과</a:t>
            </a:r>
          </a:p>
        </p:txBody>
      </p:sp>
      <p:sp>
        <p:nvSpPr>
          <p:cNvPr id="39" name="조직-조선해양플랜트과">
            <a:extLst xmlns:a="http://schemas.openxmlformats.org/drawingml/2006/main">
              <a:ext uri="{FF2B5EF4-FFF2-40B4-BE49-F238E27FC236}">
                <a16:creationId xmlns:a16="http://schemas.microsoft.com/office/drawing/2014/main" id="{4BF18B49-0CA1-4E65-A7F4-6A381487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조선해양플랜트과</a:t>
            </a:r>
          </a:p>
        </p:txBody>
      </p:sp>
      <p:sp>
        <p:nvSpPr>
          <p:cNvPr id="40" name="조직-중견기업정책과">
            <a:extLst xmlns:a="http://schemas.openxmlformats.org/drawingml/2006/main">
              <a:ext uri="{FF2B5EF4-FFF2-40B4-BE49-F238E27FC236}">
                <a16:creationId xmlns:a16="http://schemas.microsoft.com/office/drawing/2014/main" id="{E17B7045-3388-46AF-9A36-60B57D2A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중견기업정책과</a:t>
            </a:r>
          </a:p>
        </p:txBody>
      </p:sp>
      <p:sp>
        <p:nvSpPr>
          <p:cNvPr id="41" name="조직-중견기업지원과">
            <a:extLst xmlns:a="http://schemas.openxmlformats.org/drawingml/2006/main">
              <a:ext uri="{FF2B5EF4-FFF2-40B4-BE49-F238E27FC236}">
                <a16:creationId xmlns:a16="http://schemas.microsoft.com/office/drawing/2014/main" id="{649D0697-314C-4FCB-82CD-E5C08B84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중견기업지원과</a:t>
            </a:r>
          </a:p>
        </p:txBody>
      </p:sp>
      <p:sp>
        <p:nvSpPr>
          <p:cNvPr id="42" name="조직-지역경제진흥과">
            <a:extLst xmlns:a="http://schemas.openxmlformats.org/drawingml/2006/main">
              <a:ext uri="{FF2B5EF4-FFF2-40B4-BE49-F238E27FC236}">
                <a16:creationId xmlns:a16="http://schemas.microsoft.com/office/drawing/2014/main" id="{456E3990-836D-48C2-BD51-A48929B2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0562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지역경제진흥과</a:t>
            </a:r>
          </a:p>
        </p:txBody>
      </p:sp>
      <p:sp>
        <p:nvSpPr>
          <p:cNvPr id="43" name="조직-지역경제총괄과">
            <a:extLst xmlns:a="http://schemas.openxmlformats.org/drawingml/2006/main">
              <a:ext uri="{FF2B5EF4-FFF2-40B4-BE49-F238E27FC236}">
                <a16:creationId xmlns:a16="http://schemas.microsoft.com/office/drawing/2014/main" id="{4A847592-5742-4032-918F-4850EFF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58050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지역경제총괄과</a:t>
            </a:r>
          </a:p>
        </p:txBody>
      </p:sp>
      <p:sp>
        <p:nvSpPr>
          <p:cNvPr id="44" name="조직-첨단민군협력과">
            <a:extLst xmlns:a="http://schemas.openxmlformats.org/drawingml/2006/main">
              <a:ext uri="{FF2B5EF4-FFF2-40B4-BE49-F238E27FC236}">
                <a16:creationId xmlns:a16="http://schemas.microsoft.com/office/drawing/2014/main" id="{EE212B4F-B773-4186-8AF5-3A864A2B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10475"/>
            <a:ext cx="2409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727272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defRPr>
            </a:pPr>
            <a:r>
              <a:rPr sz="840" b="0">
                <a:solidFill>
                  <a:srgbClr val="20262E"/>
                </a:solidFill>
                <a:latin typeface="맑은 고딕"/>
                <a:ea typeface="맑은 고딕"/>
                <a:cs typeface="맑은 고딕"/>
              </a:rPr>
              <a:t>첨단민군협력과</a:t>
            </a:r>
          </a:p>
        </p:txBody>
      </p:sp>
      <p:sp>
        <p:nvSpPr>
          <p:cNvPr id="45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A9B7090E-A157-4530-8E9E-4C64DC09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029825"/>
            <a:ext cx="317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D1D5DB"/>
            </a:solidFill>
            <a:prstDash val="solid"/>
          </a:ln>
        </p:spPr>
      </p:sp>
      <p:sp>
        <p:nvSpPr>
          <p:cNvPr id="46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D50AF878-78B9-4C10-BE3E-E67000B8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1917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555555"/>
            </a:solidFill>
            <a:prstDash val="solid"/>
          </a:ln>
        </p:spPr>
      </p:sp>
      <p:sp>
        <p:nvSpPr>
          <p:cNvPr id="47" name="범례-보조">
            <a:extLst xmlns:a="http://schemas.openxmlformats.org/drawingml/2006/main">
              <a:ext uri="{FF2B5EF4-FFF2-40B4-BE49-F238E27FC236}">
                <a16:creationId xmlns:a16="http://schemas.microsoft.com/office/drawing/2014/main" id="{09011E17-AFBE-422F-844A-11B870BA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15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보조기관</a:t>
            </a:r>
          </a:p>
        </p:txBody>
      </p:sp>
      <p:sp>
        <p:nvSpPr>
          <p:cNvPr id="48" name="조직연결선">
            <a:extLst xmlns:a="http://schemas.openxmlformats.org/drawingml/2006/main">
              <a:ext uri="{FF2B5EF4-FFF2-40B4-BE49-F238E27FC236}">
                <a16:creationId xmlns:a16="http://schemas.microsoft.com/office/drawing/2014/main" id="{171E3AD9-CD73-4F13-975D-31200003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01917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4E7F98"/>
            </a:solidFill>
            <a:prstDash val="dash"/>
          </a:ln>
        </p:spPr>
      </p:sp>
      <p:sp>
        <p:nvSpPr>
          <p:cNvPr id="49" name="범례-보좌">
            <a:extLst xmlns:a="http://schemas.openxmlformats.org/drawingml/2006/main">
              <a:ext uri="{FF2B5EF4-FFF2-40B4-BE49-F238E27FC236}">
                <a16:creationId xmlns:a16="http://schemas.microsoft.com/office/drawing/2014/main" id="{F0C86578-9184-4471-B920-28BC7D14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0115550"/>
            <a:ext cx="5524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보좌기관</a:t>
            </a:r>
          </a:p>
        </p:txBody>
      </p:sp>
      <p:sp>
        <p:nvSpPr>
          <p:cNvPr id="50" name="출처주석">
            <a:extLst xmlns:a="http://schemas.openxmlformats.org/drawingml/2006/main">
              <a:ext uri="{FF2B5EF4-FFF2-40B4-BE49-F238E27FC236}">
                <a16:creationId xmlns:a16="http://schemas.microsoft.com/office/drawing/2014/main" id="{1FED63F2-2F24-42C8-88FB-714CE384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0115550"/>
            <a:ext cx="14478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defRPr>
            </a:pPr>
            <a:r>
              <a:rPr sz="615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직제·시행규칙 문언 기반</a:t>
            </a:r>
          </a:p>
        </p:txBody>
      </p:sp>
    </p:spTree>
    <p:extLst>
      <p:ext uri="{BB962C8B-B14F-4D97-AF65-F5344CB8AC3E}">
        <p14:creationId xmlns:p14="http://schemas.microsoft.com/office/powerpoint/2010/main" val="40249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2026-07-24T05:47:35.8640000Z</dcterms:created>
  <dcterms:modified xsi:type="dcterms:W3CDTF">2026-07-24T05:47:35.8640000Z</dcterms:modified>
</coreProperties>
</file>